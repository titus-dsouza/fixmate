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A142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05840" cy="64008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0A1428"/>
                </a:solidFill>
                <a:latin typeface="Segoe UI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55648"/>
            <a:ext cx="5486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5F9FC"/>
                </a:solidFill>
                <a:latin typeface="Segoe UI"/>
              </a:rPr>
              <a:t>FixMate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5F9FC"/>
                </a:solidFill>
                <a:latin typeface="Segoe UI"/>
              </a:rPr>
              <a:t>Report. </a:t>
            </a:r>
            <a:r>
              <a:rPr sz="6000" b="1" i="0">
                <a:solidFill>
                  <a:srgbClr val="F5F9FC"/>
                </a:solidFill>
                <a:latin typeface="Segoe UI"/>
              </a:rPr>
              <a:t>Track. </a:t>
            </a:r>
            <a:r>
              <a:rPr sz="6000" b="1" i="0">
                <a:solidFill>
                  <a:srgbClr val="2EE6A8"/>
                </a:solidFill>
                <a:latin typeface="Segoe UI"/>
              </a:rPr>
              <a:t>Verify.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86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2A6C0"/>
                </a:solidFill>
                <a:latin typeface="Segoe UI"/>
              </a:rPr>
              <a:t>A civic complaint reporting &amp; accountability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159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E6A8"/>
                </a:solidFill>
                <a:latin typeface="Segoe UI"/>
              </a:rPr>
              <a:t>PUNE,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Independent student civic-tech project — not affiliated with or endorsed by Pune Municipal Corporation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566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F5F9FC"/>
                </a:solidFill>
                <a:latin typeface="Segoe UI"/>
              </a:rPr>
              <a:t>Everyday civic
failures, invisible
until someone
reports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Damaged roads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Overflowing garbage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Drainage &amp; water leaks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92A6C0"/>
                </a:solidFill>
                <a:latin typeface="Segoe UI"/>
              </a:rPr>
              <a:t>No easy way to track a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r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225296"/>
            <a:ext cx="2212848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7083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Damaged Roads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garb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225296"/>
            <a:ext cx="2212848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2259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Overflowing Garbage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_dr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1225296"/>
            <a:ext cx="2212848" cy="3611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7435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Drainage &amp; Water Leaks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 i="0">
                <a:solidFill>
                  <a:srgbClr val="F5F9FC"/>
                </a:solidFill>
                <a:latin typeface="Segoe UI"/>
              </a:rPr>
              <a:t>One platform.
Clear tracking.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834640"/>
            <a:ext cx="384048" cy="38404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5F9FC"/>
                </a:solidFill>
                <a:latin typeface="Segoe U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5F9FC"/>
                </a:solidFill>
                <a:latin typeface="Segoe UI"/>
              </a:rPr>
              <a:t>Snap a photo, pick a category, submit.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94760"/>
            <a:ext cx="384048" cy="38404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7647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5F9FC"/>
                </a:solidFill>
                <a:latin typeface="Segoe UI"/>
              </a:rP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5F9FC"/>
                </a:solidFill>
                <a:latin typeface="Segoe UI"/>
              </a:rPr>
              <a:t>Every complaint gets a status that citizens can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E6A8"/>
                </a:solidFill>
                <a:latin typeface="Segoe UI"/>
              </a:rPr>
              <a:t>Complaint dashboard — illustrative mockup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777240"/>
            <a:ext cx="6629400" cy="5074920"/>
          </a:xfrm>
          <a:prstGeom prst="roundRect">
            <a:avLst>
              <a:gd name="adj" fmla="val 3000"/>
            </a:avLst>
          </a:prstGeom>
          <a:solidFill>
            <a:srgbClr val="0D1A33"/>
          </a:solidFill>
          <a:ln w="1524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777240"/>
            <a:ext cx="6629400" cy="384048"/>
          </a:xfrm>
          <a:prstGeom prst="roundRect">
            <a:avLst>
              <a:gd name="adj" fmla="val 3000"/>
            </a:avLst>
          </a:prstGeom>
          <a:solidFill>
            <a:srgbClr val="12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905256"/>
            <a:ext cx="118872" cy="118872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6672" y="905256"/>
            <a:ext cx="118872" cy="118872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905256"/>
            <a:ext cx="118872" cy="11887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97880" y="859536"/>
            <a:ext cx="3108960" cy="219456"/>
          </a:xfrm>
          <a:prstGeom prst="roundRect">
            <a:avLst>
              <a:gd name="adj" fmla="val 50000"/>
            </a:avLst>
          </a:prstGeom>
          <a:solidFill>
            <a:srgbClr val="0A1428"/>
          </a:solidFill>
          <a:ln w="9525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86410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fixmate.app/complaints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325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Complaints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30759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00" b="1">
                <a:solidFill>
                  <a:srgbClr val="108E6B"/>
                </a:solidFill>
                <a:latin typeface="Segoe UI"/>
              </a:rPr>
              <a:t>LIVE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828800"/>
            <a:ext cx="6080760" cy="1737360"/>
          </a:xfrm>
          <a:prstGeom prst="roundRect">
            <a:avLst>
              <a:gd name="adj" fmla="val 5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umb_r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93392"/>
            <a:ext cx="2148840" cy="13441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012680" y="19933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50" b="1">
                <a:solidFill>
                  <a:srgbClr val="FFC857"/>
                </a:solidFill>
                <a:latin typeface="Segoe UI"/>
              </a:rPr>
              <a:t>IN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011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5F9FC"/>
                </a:solidFill>
                <a:latin typeface="Segoe UI"/>
              </a:rPr>
              <a:t>Road — large pothole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39572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3957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Roads &amp; Potholes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67919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Locality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791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[Ward / locality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96265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Reported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6265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[date]  ·  ID #—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3794760"/>
            <a:ext cx="6080760" cy="1737360"/>
          </a:xfrm>
          <a:prstGeom prst="roundRect">
            <a:avLst>
              <a:gd name="adj" fmla="val 5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humb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959352"/>
            <a:ext cx="1344168" cy="134416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012680" y="395935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50" b="1">
                <a:solidFill>
                  <a:srgbClr val="F25C54"/>
                </a:solidFill>
                <a:latin typeface="Segoe UI"/>
              </a:rPr>
              <a:t>UNRESOLVED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77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5F9FC"/>
                </a:solidFill>
                <a:latin typeface="Segoe UI"/>
              </a:rPr>
              <a:t>Garbage — bin overflowing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6168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43616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Waste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Locality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2712" y="46451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[Ward / locality name]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2861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Reported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2712" y="492861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[date]  ·  ID #—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46811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92A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92A6C0"/>
                </a:solidFill>
                <a:latin typeface="Segoe UI"/>
              </a:rPr>
              <a:t>ILLUSTRATIVE MOCKUP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47395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 i="1">
                <a:solidFill>
                  <a:srgbClr val="92A6C0"/>
                </a:solidFill>
                <a:latin typeface="Segoe UI"/>
              </a:rPr>
              <a:t>Sample entries use placeholder fields — no real complaint data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5F9FC"/>
                </a:solidFill>
                <a:latin typeface="Segoe UI"/>
              </a:rPr>
              <a:t>Four steps, one clear loop of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8386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34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Snap &amp;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65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2064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562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410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10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554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Sent to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41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240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586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738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586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Department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217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3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2416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762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39147" y="2651760"/>
            <a:ext cx="868680" cy="868680"/>
          </a:xfrm>
          <a:prstGeom prst="ellipse">
            <a:avLst/>
          </a:prstGeom>
          <a:noFill/>
          <a:ln w="1905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762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762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2EE6A8"/>
                </a:solidFill>
                <a:latin typeface="Segoe UI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906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Citizen confirms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393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2356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E6A8"/>
                </a:solidFill>
                <a:latin typeface="Segoe UI"/>
              </a:rPr>
              <a:t>Only a citizen confirmation closes the loop.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5F9FC"/>
                </a:solidFill>
                <a:latin typeface="Segoe UI"/>
              </a:rPr>
              <a:t>Built around evidence and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987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6587" y="23774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587" y="23957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2387" y="23865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Photo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2387" y="28072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Evidence attached at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18507" y="23774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23957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4307" y="23865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Locality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307" y="28072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Ward-level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1827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0427" y="23774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0427" y="23957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6227" y="23865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Department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28072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Right desk, first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7987" y="42062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6587" y="44348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587" y="44531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2387" y="44439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Status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2387" y="48646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Every step 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9907" y="42062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18507" y="44348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8507" y="44531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44439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Official Access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4307" y="48646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Role-based permissions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1827" y="42062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50427" y="443484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0427" y="445312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6227" y="444398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5F9FC"/>
                </a:solidFill>
                <a:latin typeface="Segoe UI"/>
              </a:rPr>
              <a:t>Citizen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6227" y="48646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Reporter confirms the 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08192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92A6C0"/>
                </a:solidFill>
                <a:latin typeface="Segoe UI"/>
              </a:rPr>
              <a:t>All six features are part of the platform design; Gemini AI assistance is planned, not yet built.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5F9FC"/>
                </a:solidFill>
                <a:latin typeface="Segoe UI"/>
              </a:rPr>
              <a:t>A simple, proven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482596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00884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140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HTML / CSS /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980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Citizen-facing web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615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895344" y="3255264"/>
            <a:ext cx="256032" cy="237744"/>
          </a:xfrm>
          <a:prstGeom prst="down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502152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8748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717036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6301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Django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142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Python backend · routing · access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831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895344" y="4471416"/>
            <a:ext cx="256032" cy="237744"/>
          </a:xfrm>
          <a:prstGeom prst="down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718304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4914900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933188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463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2303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Complaints, media, statuses,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50474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286000"/>
            <a:ext cx="3566160" cy="339242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2EE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2560320"/>
            <a:ext cx="237744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E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2EE6A8"/>
                </a:solidFill>
                <a:latin typeface="Segoe UI"/>
              </a:rPr>
              <a:t>PLANNED AI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5F9FC"/>
                </a:solidFill>
                <a:latin typeface="Segoe UI"/>
              </a:rPr>
              <a:t>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576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Auto-suggest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05993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Detect duplicates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6227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Summarize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29437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Not yet implemented — design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92A6C0"/>
                </a:solidFill>
                <a:latin typeface="Segoe UI"/>
              </a:rPr>
              <a:t>Standard web technologies — no proprietary lock-in.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TRUST &amp;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5F9FC"/>
                </a:solidFill>
                <a:latin typeface="Segoe UI"/>
              </a:rPr>
              <a:t>Status you can see. Closure you must confirm.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606040" cy="146304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3060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3060" y="2560320"/>
            <a:ext cx="640080" cy="640080"/>
          </a:xfrm>
          <a:prstGeom prst="ellipse">
            <a:avLst/>
          </a:prstGeom>
          <a:solidFill>
            <a:srgbClr val="F25C5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7652" y="2724912"/>
            <a:ext cx="310896" cy="310896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Unresolved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Reported, not yet addressed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148840"/>
            <a:ext cx="2606040" cy="146304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1708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1708" y="2560320"/>
            <a:ext cx="640080" cy="640080"/>
          </a:xfrm>
          <a:prstGeom prst="ellipse">
            <a:avLst/>
          </a:prstGeom>
          <a:solidFill>
            <a:srgbClr val="FFC85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86300" y="2724912"/>
            <a:ext cx="310896" cy="310896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Awaiting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Fix claimed — citizen to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F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7376" y="2148840"/>
            <a:ext cx="2606040" cy="146304"/>
          </a:xfrm>
          <a:prstGeom prst="rect">
            <a:avLst/>
          </a:prstGeom>
          <a:solidFill>
            <a:srgbClr val="FF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20356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F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0356" y="2560320"/>
            <a:ext cx="640080" cy="640080"/>
          </a:xfrm>
          <a:prstGeom prst="ellipse">
            <a:avLst/>
          </a:prstGeom>
          <a:solidFill>
            <a:srgbClr val="FF934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4948" y="2724912"/>
            <a:ext cx="310896" cy="310896"/>
          </a:xfrm>
          <a:prstGeom prst="ellipse">
            <a:avLst/>
          </a:prstGeom>
          <a:solidFill>
            <a:srgbClr val="FF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Rejected / Uncertain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Could not be verified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6024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36024" y="2148840"/>
            <a:ext cx="2606040" cy="14630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19004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9004" y="2560320"/>
            <a:ext cx="640080" cy="640080"/>
          </a:xfrm>
          <a:prstGeom prst="ellipse">
            <a:avLst/>
          </a:prstGeom>
          <a:solidFill>
            <a:srgbClr val="2EE6A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83596" y="2724912"/>
            <a:ext cx="310896" cy="3108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Citizen-Verified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6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Reporter confirmed the 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14000"/>
            </a:avLst>
          </a:prstGeom>
          <a:solidFill>
            <a:srgbClr val="0D1A33"/>
          </a:solidFill>
          <a:ln w="2286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0120" y="5143500"/>
            <a:ext cx="548640" cy="54864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152644"/>
            <a:ext cx="548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A1428"/>
                </a:solidFill>
                <a:latin typeface="Segoe UI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020056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 i="0">
                <a:solidFill>
                  <a:srgbClr val="2EE6A8"/>
                </a:solidFill>
                <a:latin typeface="Segoe UI"/>
              </a:rPr>
              <a:t>Officials cannot mark complaints completed without citizen confirmation.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92A6C0"/>
                </a:solidFill>
                <a:latin typeface="Segoe UI"/>
              </a:rPr>
              <a:t>The citizen who reported it holds the final say.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0A14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IMPACT &amp;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5F9FC"/>
                </a:solidFill>
                <a:latin typeface="Segoe UI"/>
              </a:rPr>
              <a:t>Civic issues, seen through to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Easier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One photo, one form, one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Transparent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Status visible at every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Verified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Closed only when citizens agree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111831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F5F9FC"/>
                </a:solidFill>
                <a:latin typeface="Segoe UI"/>
              </a:rPr>
              <a:t>Better reporting. Clearer accountability.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E6A8"/>
                </a:solidFill>
                <a:latin typeface="Segoe UI"/>
              </a:rPr>
              <a:t>A better Pune.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Independent student civic-tech project — not affiliated with or endorsed by Pune Municipal Corporation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