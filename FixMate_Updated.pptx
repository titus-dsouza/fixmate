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A142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1005840" cy="64008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0136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0A1428"/>
                </a:solidFill>
                <a:latin typeface="Segoe UI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755648"/>
            <a:ext cx="5486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5F9FC"/>
                </a:solidFill>
                <a:latin typeface="Segoe UI"/>
              </a:rPr>
              <a:t>FixMate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 i="0">
                <a:solidFill>
                  <a:srgbClr val="F5F9FC"/>
                </a:solidFill>
                <a:latin typeface="Segoe UI"/>
              </a:rPr>
              <a:t>Report. </a:t>
            </a:r>
            <a:r>
              <a:rPr sz="6000" b="1" i="0">
                <a:solidFill>
                  <a:srgbClr val="F5F9FC"/>
                </a:solidFill>
                <a:latin typeface="Segoe UI"/>
              </a:rPr>
              <a:t>Track. </a:t>
            </a:r>
            <a:r>
              <a:rPr sz="6000" b="1" i="0">
                <a:solidFill>
                  <a:srgbClr val="2EE6A8"/>
                </a:solidFill>
                <a:latin typeface="Segoe UI"/>
              </a:rPr>
              <a:t>Verify.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8862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92A6C0"/>
                </a:solidFill>
                <a:latin typeface="Segoe UI"/>
              </a:rPr>
              <a:t>A civic complaint reporting &amp; accountability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31596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E6A8"/>
                </a:solidFill>
                <a:latin typeface="Segoe UI"/>
              </a:rPr>
              <a:t>PUNE, INDIA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1">
                <a:solidFill>
                  <a:srgbClr val="92A6C0"/>
                </a:solidFill>
                <a:latin typeface="Segoe UI"/>
              </a:rPr>
              <a:t>Independent student civic-tech project — not affiliated with or endorsed by Pune Municipal Corporation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822960" cy="5486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566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F5F9FC"/>
                </a:solidFill>
                <a:latin typeface="Segoe UI"/>
              </a:rPr>
              <a:t>Everyday civic
failures, invisible
until someone
reports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F5F9FC"/>
                </a:solidFill>
                <a:latin typeface="Segoe UI"/>
              </a:rPr>
              <a:t>•  Damaged roads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F5F9FC"/>
                </a:solidFill>
                <a:latin typeface="Segoe UI"/>
              </a:rPr>
              <a:t>•  Overflowing garbage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F5F9FC"/>
                </a:solidFill>
                <a:latin typeface="Segoe UI"/>
              </a:rPr>
              <a:t>•  Drainage &amp; water leaks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92A6C0"/>
                </a:solidFill>
                <a:latin typeface="Segoe UI"/>
              </a:rPr>
              <a:t>No easy way to track a fix.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43000"/>
            <a:ext cx="2377440" cy="4526280"/>
          </a:xfrm>
          <a:prstGeom prst="roundRect">
            <a:avLst>
              <a:gd name="adj" fmla="val 45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_r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1225296"/>
            <a:ext cx="2212848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70832" y="4919472"/>
            <a:ext cx="2048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F5F9FC"/>
                </a:solidFill>
                <a:latin typeface="Segoe UI"/>
              </a:rPr>
              <a:t>Damaged Roads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5266944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1">
                <a:solidFill>
                  <a:srgbClr val="92A6C0"/>
                </a:solidFill>
                <a:latin typeface="Segoe UI"/>
              </a:rPr>
              <a:t>Photo: illustrative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143000"/>
            <a:ext cx="2377440" cy="4526280"/>
          </a:xfrm>
          <a:prstGeom prst="roundRect">
            <a:avLst>
              <a:gd name="adj" fmla="val 45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_garb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1225296"/>
            <a:ext cx="2212848" cy="3611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22592" y="4919472"/>
            <a:ext cx="2048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F5F9FC"/>
                </a:solidFill>
                <a:latin typeface="Segoe UI"/>
              </a:rPr>
              <a:t>Overflowing Garbage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5266944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1">
                <a:solidFill>
                  <a:srgbClr val="92A6C0"/>
                </a:solidFill>
                <a:latin typeface="Segoe UI"/>
              </a:rPr>
              <a:t>Photo: illustrative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143000"/>
            <a:ext cx="2377440" cy="4526280"/>
          </a:xfrm>
          <a:prstGeom prst="roundRect">
            <a:avLst>
              <a:gd name="adj" fmla="val 45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_dra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56" y="1225296"/>
            <a:ext cx="2212848" cy="3611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74352" y="4919472"/>
            <a:ext cx="2048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F5F9FC"/>
                </a:solidFill>
                <a:latin typeface="Segoe UI"/>
              </a:rPr>
              <a:t>Drainage &amp; Water Leaks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2" y="5266944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1">
                <a:solidFill>
                  <a:srgbClr val="92A6C0"/>
                </a:solidFill>
                <a:latin typeface="Segoe UI"/>
              </a:rPr>
              <a:t>Photo: illustrative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2A6C0"/>
                </a:solidFill>
                <a:latin typeface="Segoe UI"/>
              </a:rPr>
              <a:t>FixMate  ·  Pune,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2EE6A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822960" cy="5486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4023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600" b="1" i="0">
                <a:solidFill>
                  <a:srgbClr val="F5F9FC"/>
                </a:solidFill>
                <a:latin typeface="Segoe UI"/>
              </a:rPr>
              <a:t>One platform.
Clear tracking.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834640"/>
            <a:ext cx="384048" cy="384048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816352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5F9FC"/>
                </a:solidFill>
                <a:latin typeface="Segoe UI"/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F5F9FC"/>
                </a:solidFill>
                <a:latin typeface="Segoe UI"/>
              </a:rPr>
              <a:t>Snap a photo, pick a category, submit.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794760"/>
            <a:ext cx="384048" cy="384048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76472"/>
            <a:ext cx="3840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5F9FC"/>
                </a:solidFill>
                <a:latin typeface="Segoe UI"/>
              </a:rPr>
              <a:t>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4904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F5F9FC"/>
                </a:solidFill>
                <a:latin typeface="Segoe UI"/>
              </a:rPr>
              <a:t>Every complaint gets a status that citizens can verify.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377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EE6A8"/>
                </a:solidFill>
                <a:latin typeface="Segoe UI"/>
              </a:rPr>
              <a:t>Complaint dashboard — illustrative mockup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777240"/>
            <a:ext cx="6629400" cy="5074920"/>
          </a:xfrm>
          <a:prstGeom prst="roundRect">
            <a:avLst>
              <a:gd name="adj" fmla="val 3000"/>
            </a:avLst>
          </a:prstGeom>
          <a:solidFill>
            <a:srgbClr val="0D1A33"/>
          </a:solidFill>
          <a:ln w="1524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777240"/>
            <a:ext cx="6629400" cy="384048"/>
          </a:xfrm>
          <a:prstGeom prst="roundRect">
            <a:avLst>
              <a:gd name="adj" fmla="val 3000"/>
            </a:avLst>
          </a:prstGeom>
          <a:solidFill>
            <a:srgbClr val="12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75504" y="905256"/>
            <a:ext cx="118872" cy="118872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76672" y="905256"/>
            <a:ext cx="118872" cy="118872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77840" y="905256"/>
            <a:ext cx="118872" cy="118872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97880" y="859536"/>
            <a:ext cx="3108960" cy="219456"/>
          </a:xfrm>
          <a:prstGeom prst="roundRect">
            <a:avLst>
              <a:gd name="adj" fmla="val 50000"/>
            </a:avLst>
          </a:prstGeom>
          <a:solidFill>
            <a:srgbClr val="0A1428"/>
          </a:solidFill>
          <a:ln w="9525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86410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2A6C0"/>
                </a:solidFill>
                <a:latin typeface="Segoe UI"/>
              </a:rPr>
              <a:t>fixmate.app/complaints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1325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5F9FC"/>
                </a:solidFill>
                <a:latin typeface="Segoe UI"/>
              </a:rPr>
              <a:t>Complaints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130759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 w="1524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00" b="1">
                <a:solidFill>
                  <a:srgbClr val="108E6B"/>
                </a:solidFill>
                <a:latin typeface="Segoe UI"/>
              </a:rPr>
              <a:t>LIVE FEED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1828800"/>
            <a:ext cx="6080760" cy="1737360"/>
          </a:xfrm>
          <a:prstGeom prst="roundRect">
            <a:avLst>
              <a:gd name="adj" fmla="val 5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humb_r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1993392"/>
            <a:ext cx="2148840" cy="134416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0012680" y="19933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 w="1524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850" b="1">
                <a:solidFill>
                  <a:srgbClr val="FFC857"/>
                </a:solidFill>
                <a:latin typeface="Segoe UI"/>
              </a:rPr>
              <a:t>IN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20116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5F9FC"/>
                </a:solidFill>
                <a:latin typeface="Segoe UI"/>
              </a:rPr>
              <a:t>Road — large pothole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2395728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2A6C0"/>
                </a:solidFill>
                <a:latin typeface="Segoe UI"/>
              </a:rPr>
              <a:t>Category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39572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F5F9FC"/>
                </a:solidFill>
                <a:latin typeface="Segoe UI"/>
              </a:rPr>
              <a:t>Roads &amp; Potholes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267919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2A6C0"/>
                </a:solidFill>
                <a:latin typeface="Segoe UI"/>
              </a:rPr>
              <a:t>Locality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6791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F5F9FC"/>
                </a:solidFill>
                <a:latin typeface="Segoe UI"/>
              </a:rPr>
              <a:t>[Ward / locality name]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2962656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2A6C0"/>
                </a:solidFill>
                <a:latin typeface="Segoe UI"/>
              </a:rPr>
              <a:t>Reported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96265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F5F9FC"/>
                </a:solidFill>
                <a:latin typeface="Segoe UI"/>
              </a:rPr>
              <a:t>[date]  ·  ID #—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0" y="3794760"/>
            <a:ext cx="6080760" cy="1737360"/>
          </a:xfrm>
          <a:prstGeom prst="roundRect">
            <a:avLst>
              <a:gd name="adj" fmla="val 5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thumb_s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3959352"/>
            <a:ext cx="1344168" cy="134416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0012680" y="395935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 w="15240">
            <a:solidFill>
              <a:srgbClr val="F25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850" b="1">
                <a:solidFill>
                  <a:srgbClr val="F25C54"/>
                </a:solidFill>
                <a:latin typeface="Segoe UI"/>
              </a:rPr>
              <a:t>UNRESOLVED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9776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5F9FC"/>
                </a:solidFill>
                <a:latin typeface="Segoe UI"/>
              </a:rPr>
              <a:t>Garbage — bin overflowing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361688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2A6C0"/>
                </a:solidFill>
                <a:latin typeface="Segoe UI"/>
              </a:rPr>
              <a:t>Category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82712" y="436168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F5F9FC"/>
                </a:solidFill>
                <a:latin typeface="Segoe UI"/>
              </a:rPr>
              <a:t>Waste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6451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2A6C0"/>
                </a:solidFill>
                <a:latin typeface="Segoe UI"/>
              </a:rPr>
              <a:t>Locality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82712" y="464515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F5F9FC"/>
                </a:solidFill>
                <a:latin typeface="Segoe UI"/>
              </a:rPr>
              <a:t>[Ward / locality name]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928616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2A6C0"/>
                </a:solidFill>
                <a:latin typeface="Segoe UI"/>
              </a:rPr>
              <a:t>Reported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82712" y="492861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F5F9FC"/>
                </a:solidFill>
                <a:latin typeface="Segoe UI"/>
              </a:rPr>
              <a:t>[date]  ·  ID #—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546811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 w="15240">
            <a:solidFill>
              <a:srgbClr val="92A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800" b="1">
                <a:solidFill>
                  <a:srgbClr val="92A6C0"/>
                </a:solidFill>
                <a:latin typeface="Segoe UI"/>
              </a:rPr>
              <a:t>ILLUSTRATIVE MOCKUP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2A6C0"/>
                </a:solidFill>
                <a:latin typeface="Segoe UI"/>
              </a:rPr>
              <a:t>FixMate  ·  Pune, India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2EE6A8"/>
                </a:solidFill>
                <a:latin typeface="Segoe UI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6473952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850" b="0" i="1">
                <a:solidFill>
                  <a:srgbClr val="92A6C0"/>
                </a:solidFill>
                <a:latin typeface="Segoe UI"/>
              </a:rPr>
              <a:t>Sample entries use placeholder fields — no real complaint data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822960" cy="5486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5F9FC"/>
                </a:solidFill>
                <a:latin typeface="Segoe UI"/>
              </a:rPr>
              <a:t>Four steps, one clear loop of accountability.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2347" y="2286000"/>
            <a:ext cx="2331720" cy="3017520"/>
          </a:xfrm>
          <a:prstGeom prst="roundRect">
            <a:avLst>
              <a:gd name="adj" fmla="val 6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83867" y="2651760"/>
            <a:ext cx="868680" cy="868680"/>
          </a:xfrm>
          <a:prstGeom prst="ellipse">
            <a:avLst/>
          </a:prstGeom>
          <a:noFill/>
          <a:ln w="1905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347" y="272491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 i="0">
                <a:solidFill>
                  <a:srgbClr val="F5F9FC"/>
                </a:solidFill>
                <a:latin typeface="Segoe UI"/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347" y="37033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5F9FC"/>
                </a:solidFill>
                <a:latin typeface="Segoe UI"/>
              </a:rPr>
              <a:t>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7" y="42976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2A6C0"/>
                </a:solidFill>
                <a:latin typeface="Segoe UI"/>
              </a:rPr>
              <a:t>Snap &amp;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651" y="2414016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2A6C0"/>
                </a:solidFill>
                <a:latin typeface="Segoe UI"/>
              </a:rPr>
              <a:t>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20643" y="3584448"/>
            <a:ext cx="246888" cy="365760"/>
          </a:xfrm>
          <a:prstGeom prst="rightArrow">
            <a:avLst/>
          </a:prstGeom>
          <a:solidFill>
            <a:srgbClr val="10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04107" y="2286000"/>
            <a:ext cx="2331720" cy="3017520"/>
          </a:xfrm>
          <a:prstGeom prst="roundRect">
            <a:avLst>
              <a:gd name="adj" fmla="val 6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35627" y="2651760"/>
            <a:ext cx="868680" cy="868680"/>
          </a:xfrm>
          <a:prstGeom prst="ellipse">
            <a:avLst/>
          </a:prstGeom>
          <a:noFill/>
          <a:ln w="1905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4107" y="272491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 i="0">
                <a:solidFill>
                  <a:srgbClr val="F5F9FC"/>
                </a:solidFill>
                <a:latin typeface="Segoe UI"/>
              </a:rPr>
              <a:t>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4107" y="37033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5F9FC"/>
                </a:solidFill>
                <a:latin typeface="Segoe UI"/>
              </a:rP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5547" y="42976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2A6C0"/>
                </a:solidFill>
                <a:latin typeface="Segoe UI"/>
              </a:rPr>
              <a:t>Sent to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0411" y="2414016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2A6C0"/>
                </a:solidFill>
                <a:latin typeface="Segoe UI"/>
              </a:rPr>
              <a:t>2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72403" y="3584448"/>
            <a:ext cx="246888" cy="365760"/>
          </a:xfrm>
          <a:prstGeom prst="rightArrow">
            <a:avLst/>
          </a:prstGeom>
          <a:solidFill>
            <a:srgbClr val="10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55867" y="2286000"/>
            <a:ext cx="2331720" cy="3017520"/>
          </a:xfrm>
          <a:prstGeom prst="roundRect">
            <a:avLst>
              <a:gd name="adj" fmla="val 6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87387" y="2651760"/>
            <a:ext cx="868680" cy="868680"/>
          </a:xfrm>
          <a:prstGeom prst="ellipse">
            <a:avLst/>
          </a:prstGeom>
          <a:noFill/>
          <a:ln w="1905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5867" y="272491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 i="0">
                <a:solidFill>
                  <a:srgbClr val="F5F9FC"/>
                </a:solidFill>
                <a:latin typeface="Segoe UI"/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867" y="37033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5F9FC"/>
                </a:solidFill>
                <a:latin typeface="Segoe UI"/>
              </a:rP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7307" y="42976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2A6C0"/>
                </a:solidFill>
                <a:latin typeface="Segoe UI"/>
              </a:rPr>
              <a:t>Department 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2171" y="2414016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2A6C0"/>
                </a:solidFill>
                <a:latin typeface="Segoe UI"/>
              </a:rPr>
              <a:t>3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624163" y="3584448"/>
            <a:ext cx="246888" cy="365760"/>
          </a:xfrm>
          <a:prstGeom prst="rightArrow">
            <a:avLst/>
          </a:prstGeom>
          <a:solidFill>
            <a:srgbClr val="10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07627" y="2286000"/>
            <a:ext cx="2331720" cy="3017520"/>
          </a:xfrm>
          <a:prstGeom prst="roundRect">
            <a:avLst>
              <a:gd name="adj" fmla="val 6000"/>
            </a:avLst>
          </a:prstGeom>
          <a:solidFill>
            <a:srgbClr val="12213D"/>
          </a:solidFill>
          <a:ln w="20320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39147" y="2651760"/>
            <a:ext cx="868680" cy="868680"/>
          </a:xfrm>
          <a:prstGeom prst="ellipse">
            <a:avLst/>
          </a:prstGeom>
          <a:noFill/>
          <a:ln w="19050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07627" y="272491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 i="0">
                <a:solidFill>
                  <a:srgbClr val="F5F9FC"/>
                </a:solidFill>
                <a:latin typeface="Segoe UI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7627" y="37033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2EE6A8"/>
                </a:solidFill>
                <a:latin typeface="Segoe UI"/>
              </a:rPr>
              <a:t>Verify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9067" y="42976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2A6C0"/>
                </a:solidFill>
                <a:latin typeface="Segoe UI"/>
              </a:rPr>
              <a:t>Citizen confirms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3931" y="2414016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2A6C0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623560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EE6A8"/>
                </a:solidFill>
                <a:latin typeface="Segoe UI"/>
              </a:rPr>
              <a:t>Only a citizen confirmation closes the loop.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2A6C0"/>
                </a:solidFill>
                <a:latin typeface="Segoe UI"/>
              </a:rPr>
              <a:t>FixMate  ·  Pune, India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2EE6A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60">
                <a:solidFill>
                  <a:srgbClr val="2EE6A8"/>
                </a:solidFill>
                <a:latin typeface="Segoe UI"/>
              </a:rPr>
              <a:t>ACCOUNTABILITY &amp;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822960" cy="5486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5F9FC"/>
                </a:solidFill>
                <a:latin typeface="Segoe UI"/>
              </a:rPr>
              <a:t>Accountability &amp; Performance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457200"/>
            <a:ext cx="2221992" cy="310896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457200"/>
            <a:ext cx="2221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80">
                <a:solidFill>
                  <a:srgbClr val="2EE6A8"/>
                </a:solidFill>
                <a:latin typeface="Segoe UI"/>
              </a:rPr>
              <a:t>ILLUSTRATIVE DEMO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50">
                <a:solidFill>
                  <a:srgbClr val="2EE6A8"/>
                </a:solidFill>
                <a:latin typeface="Segoe UI"/>
              </a:rPr>
              <a:t>A  ·  PUBLIC DEPARTMENT RANK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92224"/>
            <a:ext cx="6309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2A6C0"/>
                </a:solidFill>
                <a:latin typeface="Segoe UI"/>
              </a:rPr>
              <a:t>Ranked by citizen-verified resolution rate (verified ÷ received)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554480"/>
            <a:ext cx="4416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50">
                <a:solidFill>
                  <a:srgbClr val="2EE6A8"/>
                </a:solidFill>
                <a:latin typeface="Segoe UI"/>
              </a:rPr>
              <a:t>B  ·  MINISTER-WISE PORTFOLIO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792224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2A6C0"/>
                </a:solidFill>
                <a:latin typeface="Segoe UI"/>
              </a:rPr>
              <a:t>Complaints rolled up by portfolio  ·  illustrative dept mapping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48256"/>
            <a:ext cx="6446520" cy="3200400"/>
          </a:xfrm>
          <a:prstGeom prst="roundRect">
            <a:avLst>
              <a:gd name="adj" fmla="val 35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3969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2A6C0"/>
                </a:solidFill>
                <a:latin typeface="Segoe UI"/>
              </a:rPr>
              <a:t>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139696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2A6C0"/>
                </a:solidFill>
                <a:latin typeface="Segoe UI"/>
              </a:rPr>
              <a:t>DEPARTMENT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13969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92A6C0"/>
                </a:solidFill>
                <a:latin typeface="Segoe UI"/>
              </a:rPr>
              <a:t>RECEIVED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13969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92A6C0"/>
                </a:solidFill>
                <a:latin typeface="Segoe UI"/>
              </a:rPr>
              <a:t>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139696"/>
            <a:ext cx="6035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92A6C0"/>
                </a:solidFill>
                <a:latin typeface="Segoe UI"/>
              </a:rPr>
              <a:t>PENDING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2139696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2A6C0"/>
                </a:solidFill>
                <a:latin typeface="Segoe UI"/>
              </a:rPr>
              <a:t>RESOLUTION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377440"/>
            <a:ext cx="6135624" cy="10058"/>
          </a:xfrm>
          <a:prstGeom prst="rect">
            <a:avLst/>
          </a:prstGeom>
          <a:solidFill>
            <a:srgbClr val="243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523744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E6A8"/>
                </a:solidFill>
                <a:latin typeface="Segoe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532888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9FC"/>
                </a:solidFill>
                <a:latin typeface="Segoe UI"/>
              </a:rPr>
              <a:t>Department A1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542032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5F9FC"/>
                </a:solidFill>
                <a:latin typeface="Segoe UI"/>
              </a:rPr>
              <a:t>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7328" y="2542032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2EE6A8"/>
                </a:solidFill>
                <a:latin typeface="Segoe UI"/>
              </a:rPr>
              <a:t>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2542032"/>
            <a:ext cx="603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92A6C0"/>
                </a:solidFill>
                <a:latin typeface="Segoe UI"/>
              </a:rPr>
              <a:t>42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48656" y="2610612"/>
            <a:ext cx="1005840" cy="100584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248656" y="2610612"/>
            <a:ext cx="653796" cy="100584"/>
          </a:xfrm>
          <a:prstGeom prst="roundRect">
            <a:avLst>
              <a:gd name="adj" fmla="val 50000"/>
            </a:avLst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532888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F9FC"/>
                </a:solidFill>
                <a:latin typeface="Segoe UI"/>
              </a:rPr>
              <a:t>65.0%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2871216"/>
            <a:ext cx="6263640" cy="384048"/>
          </a:xfrm>
          <a:prstGeom prst="roundRect">
            <a:avLst>
              <a:gd name="adj" fmla="val 12000"/>
            </a:avLst>
          </a:prstGeom>
          <a:solidFill>
            <a:srgbClr val="0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2962656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A6C0"/>
                </a:solidFill>
                <a:latin typeface="Segoe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971800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9FC"/>
                </a:solidFill>
                <a:latin typeface="Segoe UI"/>
              </a:rPr>
              <a:t>Department A2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2980944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5F9FC"/>
                </a:solidFill>
                <a:latin typeface="Segoe UI"/>
              </a:rPr>
              <a:t>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2980944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2EE6A8"/>
                </a:solidFill>
                <a:latin typeface="Segoe UI"/>
              </a:rPr>
              <a:t>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7136" y="2980944"/>
            <a:ext cx="603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92A6C0"/>
                </a:solidFill>
                <a:latin typeface="Segoe UI"/>
              </a:rPr>
              <a:t>28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48656" y="3049524"/>
            <a:ext cx="1005840" cy="100584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48656" y="3049524"/>
            <a:ext cx="566287" cy="100584"/>
          </a:xfrm>
          <a:prstGeom prst="roundRect">
            <a:avLst>
              <a:gd name="adj" fmla="val 50000"/>
            </a:avLst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971800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F9FC"/>
                </a:solidFill>
                <a:latin typeface="Segoe UI"/>
              </a:rPr>
              <a:t>56.3%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3401568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A6C0"/>
                </a:solidFill>
                <a:latin typeface="Segoe U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410712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9FC"/>
                </a:solidFill>
                <a:latin typeface="Segoe UI"/>
              </a:rPr>
              <a:t>Department B1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3419856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5F9FC"/>
                </a:solidFill>
                <a:latin typeface="Segoe UI"/>
              </a:rPr>
              <a:t>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67328" y="3419856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2EE6A8"/>
                </a:solidFill>
                <a:latin typeface="Segoe UI"/>
              </a:rPr>
              <a:t>47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7136" y="3419856"/>
            <a:ext cx="603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92A6C0"/>
                </a:solidFill>
                <a:latin typeface="Segoe UI"/>
              </a:rPr>
              <a:t>48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48656" y="3488436"/>
            <a:ext cx="1005840" cy="100584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248656" y="3488436"/>
            <a:ext cx="497890" cy="100584"/>
          </a:xfrm>
          <a:prstGeom prst="roundRect">
            <a:avLst>
              <a:gd name="adj" fmla="val 50000"/>
            </a:avLst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3410712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F9FC"/>
                </a:solidFill>
                <a:latin typeface="Segoe UI"/>
              </a:rPr>
              <a:t>49.5%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3749040"/>
            <a:ext cx="6263640" cy="384048"/>
          </a:xfrm>
          <a:prstGeom prst="roundRect">
            <a:avLst>
              <a:gd name="adj" fmla="val 12000"/>
            </a:avLst>
          </a:prstGeom>
          <a:solidFill>
            <a:srgbClr val="0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84048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A6C0"/>
                </a:solidFill>
                <a:latin typeface="Segoe U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384962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9FC"/>
                </a:solidFill>
                <a:latin typeface="Segoe UI"/>
              </a:rPr>
              <a:t>Department C1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3858768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F5F9FC"/>
                </a:solidFill>
                <a:latin typeface="Segoe UI"/>
              </a:rPr>
              <a:t>150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67328" y="3858768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2EE6A8"/>
                </a:solidFill>
                <a:latin typeface="Segoe UI"/>
              </a:rPr>
              <a:t>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17136" y="3858768"/>
            <a:ext cx="603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92A6C0"/>
                </a:solidFill>
                <a:latin typeface="Segoe UI"/>
              </a:rPr>
              <a:t>90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48656" y="3927348"/>
            <a:ext cx="1005840" cy="100584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248656" y="3927348"/>
            <a:ext cx="402336" cy="100584"/>
          </a:xfrm>
          <a:prstGeom prst="roundRect">
            <a:avLst>
              <a:gd name="adj" fmla="val 50000"/>
            </a:avLst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849624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F5F9FC"/>
                </a:solidFill>
                <a:latin typeface="Segoe UI"/>
              </a:rPr>
              <a:t>40.0%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4261104"/>
            <a:ext cx="6135624" cy="10058"/>
          </a:xfrm>
          <a:prstGeom prst="rect">
            <a:avLst/>
          </a:prstGeom>
          <a:solidFill>
            <a:srgbClr val="243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7280" y="43891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">
                <a:solidFill>
                  <a:srgbClr val="92A6C0"/>
                </a:solidFill>
                <a:latin typeface="Segoe UI"/>
              </a:rPr>
              <a:t>ALL DEPARTMENTS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0" y="4361688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F5F9FC"/>
                </a:solidFill>
                <a:latin typeface="Segoe UI"/>
              </a:rPr>
              <a:t>429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67328" y="4361688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2EE6A8"/>
                </a:solidFill>
                <a:latin typeface="Segoe UI"/>
              </a:rPr>
              <a:t>221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17136" y="4361688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F5F9FC"/>
                </a:solidFill>
                <a:latin typeface="Segoe UI"/>
              </a:rPr>
              <a:t>208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248656" y="4453128"/>
            <a:ext cx="1005840" cy="100584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248656" y="4453128"/>
            <a:ext cx="518007" cy="100584"/>
          </a:xfrm>
          <a:prstGeom prst="roundRect">
            <a:avLst>
              <a:gd name="adj" fmla="val 50000"/>
            </a:avLst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4361688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2EE6A8"/>
                </a:solidFill>
                <a:latin typeface="Segoe UI"/>
              </a:rPr>
              <a:t>51.5%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4718304"/>
            <a:ext cx="61356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92A6C0"/>
                </a:solidFill>
                <a:latin typeface="Segoe UI"/>
              </a:rPr>
              <a:t>Rank = verified ÷ received, not raw volume. Department C1 handles the largest workload (150) yet ranks last on verified outcomes.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69480" y="2048256"/>
            <a:ext cx="4416552" cy="914400"/>
          </a:xfrm>
          <a:prstGeom prst="roundRect">
            <a:avLst>
              <a:gd name="adj" fmla="val 6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24928" y="214884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9FC"/>
                </a:solidFill>
                <a:latin typeface="Segoe UI"/>
              </a:rPr>
              <a:t>Portfolio 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24928" y="238658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2A6C0"/>
                </a:solidFill>
                <a:latin typeface="Segoe UI"/>
              </a:rPr>
              <a:t>Depts A1 + A2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121408"/>
            <a:ext cx="1014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2EE6A8"/>
                </a:solidFill>
                <a:latin typeface="Segoe UI"/>
              </a:rPr>
              <a:t>62.0%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24928" y="262432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2A6C0"/>
                </a:solidFill>
                <a:latin typeface="Segoe UI"/>
              </a:rPr>
              <a:t>184  rec'd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39912" y="2624328"/>
            <a:ext cx="1024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EE6A8"/>
                </a:solidFill>
                <a:latin typeface="Segoe UI"/>
              </a:rPr>
              <a:t>114  verified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09760" y="262432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2A6C0"/>
                </a:solidFill>
                <a:latin typeface="Segoe UI"/>
              </a:rPr>
              <a:t>70  pending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24928" y="2834640"/>
            <a:ext cx="4105656" cy="73152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424928" y="2834640"/>
            <a:ext cx="2545506" cy="73152"/>
          </a:xfrm>
          <a:prstGeom prst="roundRect">
            <a:avLst>
              <a:gd name="adj" fmla="val 50000"/>
            </a:avLst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269480" y="3035808"/>
            <a:ext cx="4416552" cy="914400"/>
          </a:xfrm>
          <a:prstGeom prst="roundRect">
            <a:avLst>
              <a:gd name="adj" fmla="val 6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24928" y="313639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9FC"/>
                </a:solidFill>
                <a:latin typeface="Segoe UI"/>
              </a:rPr>
              <a:t>Portfolio 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24928" y="337413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2A6C0"/>
                </a:solidFill>
                <a:latin typeface="Segoe UI"/>
              </a:rPr>
              <a:t>Dept B1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15600" y="3108960"/>
            <a:ext cx="1014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2EE6A8"/>
                </a:solidFill>
                <a:latin typeface="Segoe UI"/>
              </a:rPr>
              <a:t>49.5%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24928" y="361188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2A6C0"/>
                </a:solidFill>
                <a:latin typeface="Segoe UI"/>
              </a:rPr>
              <a:t>95  rec'd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39912" y="3611880"/>
            <a:ext cx="1024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EE6A8"/>
                </a:solidFill>
                <a:latin typeface="Segoe UI"/>
              </a:rPr>
              <a:t>47  verified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09760" y="361188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2A6C0"/>
                </a:solidFill>
                <a:latin typeface="Segoe UI"/>
              </a:rPr>
              <a:t>48  pending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424928" y="3822192"/>
            <a:ext cx="4105656" cy="73152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424928" y="3822192"/>
            <a:ext cx="2032299" cy="73152"/>
          </a:xfrm>
          <a:prstGeom prst="roundRect">
            <a:avLst>
              <a:gd name="adj" fmla="val 50000"/>
            </a:avLst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269480" y="4023360"/>
            <a:ext cx="4416552" cy="914400"/>
          </a:xfrm>
          <a:prstGeom prst="roundRect">
            <a:avLst>
              <a:gd name="adj" fmla="val 6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24928" y="412394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9FC"/>
                </a:solidFill>
                <a:latin typeface="Segoe UI"/>
              </a:rPr>
              <a:t>Portfolio 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24928" y="43616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2A6C0"/>
                </a:solidFill>
                <a:latin typeface="Segoe UI"/>
              </a:rPr>
              <a:t>Dept C1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15600" y="4096512"/>
            <a:ext cx="1014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2EE6A8"/>
                </a:solidFill>
                <a:latin typeface="Segoe UI"/>
              </a:rPr>
              <a:t>40.0%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24928" y="459943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2A6C0"/>
                </a:solidFill>
                <a:latin typeface="Segoe UI"/>
              </a:rPr>
              <a:t>150  rec'd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39912" y="4599432"/>
            <a:ext cx="1024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EE6A8"/>
                </a:solidFill>
                <a:latin typeface="Segoe UI"/>
              </a:rPr>
              <a:t>60  verified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09760" y="459943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2A6C0"/>
                </a:solidFill>
                <a:latin typeface="Segoe UI"/>
              </a:rPr>
              <a:t>90  pending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424928" y="4809744"/>
            <a:ext cx="4105656" cy="73152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424928" y="4809744"/>
            <a:ext cx="1642262" cy="73152"/>
          </a:xfrm>
          <a:prstGeom prst="roundRect">
            <a:avLst>
              <a:gd name="adj" fmla="val 50000"/>
            </a:avLst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269480" y="4956048"/>
            <a:ext cx="4416552" cy="292608"/>
          </a:xfrm>
          <a:prstGeom prst="roundRect">
            <a:avLst>
              <a:gd name="adj" fmla="val 35000"/>
            </a:avLst>
          </a:prstGeom>
          <a:solidFill>
            <a:srgbClr val="0D1A33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415783" y="5006340"/>
            <a:ext cx="412394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92A6C0"/>
                </a:solidFill>
                <a:latin typeface="Segoe UI"/>
              </a:rPr>
              <a:t>Combined  </a:t>
            </a:r>
            <a:r>
              <a:rPr sz="800" b="0">
                <a:solidFill>
                  <a:srgbClr val="92A6C0"/>
                </a:solidFill>
                <a:latin typeface="Segoe UI"/>
              </a:rPr>
              <a:t>429 received  ·  221 verified  ·  208 pending  ·  </a:t>
            </a:r>
            <a:r>
              <a:rPr sz="800" b="1">
                <a:solidFill>
                  <a:srgbClr val="2EE6A8"/>
                </a:solidFill>
                <a:latin typeface="Segoe UI"/>
              </a:rPr>
              <a:t>51.5%</a:t>
            </a:r>
            <a:r>
              <a:rPr sz="800" b="0">
                <a:solidFill>
                  <a:srgbClr val="92A6C0"/>
                </a:solidFill>
                <a:latin typeface="Segoe UI"/>
              </a:rPr>
              <a:t> verified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02920" y="5394960"/>
            <a:ext cx="11183112" cy="658368"/>
          </a:xfrm>
          <a:prstGeom prst="roundRect">
            <a:avLst>
              <a:gd name="adj" fmla="val 10000"/>
            </a:avLst>
          </a:prstGeom>
          <a:solidFill>
            <a:srgbClr val="12213D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2376" y="5513832"/>
            <a:ext cx="10744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EE6A8"/>
                </a:solidFill>
                <a:latin typeface="Segoe UI"/>
              </a:rPr>
              <a:t>Closure rule  </a:t>
            </a:r>
            <a:r>
              <a:rPr sz="900" b="0">
                <a:solidFill>
                  <a:srgbClr val="F5F9FC"/>
                </a:solidFill>
                <a:latin typeface="Segoe UI"/>
              </a:rPr>
              <a:t>— a complaint counts as resolved only when the reporting citizen confirms the fix. Officials cannot self-certify; unverified completions stay in Pending.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22376" y="5769864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2A6C0"/>
                </a:solidFill>
                <a:latin typeface="Segoe UI"/>
              </a:rPr>
              <a:t>All figures are illustrative demo data built for this prototype — not Pune Municipal Corporation statistics. Department and portfolio labels are neutral placeholders; no official ranking, portfolio assignment or minister mapping is implied.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A6C0"/>
                </a:solidFill>
                <a:latin typeface="Segoe UI"/>
              </a:rPr>
              <a:t>FixMate  ·  Pune, India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EE6A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822960" cy="5486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5F9FC"/>
                </a:solidFill>
                <a:latin typeface="Segoe UI"/>
              </a:rPr>
              <a:t>A simple, proven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6400800" cy="960120"/>
          </a:xfrm>
          <a:prstGeom prst="roundRect">
            <a:avLst>
              <a:gd name="adj" fmla="val 10000"/>
            </a:avLst>
          </a:prstGeom>
          <a:solidFill>
            <a:srgbClr val="12213D"/>
          </a:solidFill>
          <a:ln w="1524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482596"/>
            <a:ext cx="566928" cy="566928"/>
          </a:xfrm>
          <a:prstGeom prst="ellipse">
            <a:avLst/>
          </a:prstGeom>
          <a:solidFill>
            <a:srgbClr val="0D1A33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500884"/>
            <a:ext cx="56692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5F9FC"/>
                </a:solidFill>
                <a:latin typeface="Segoe UI"/>
              </a:rPr>
              <a:t>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41401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5F9FC"/>
                </a:solidFill>
                <a:latin typeface="Segoe UI"/>
              </a:rPr>
              <a:t>HTML / CSS / 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9806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2A6C0"/>
                </a:solidFill>
                <a:latin typeface="Segoe UI"/>
              </a:rPr>
              <a:t>Citizen-facing web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26151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 w="1524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800" b="1">
                <a:solidFill>
                  <a:srgbClr val="108E6B"/>
                </a:solidFill>
                <a:latin typeface="Segoe UI"/>
              </a:rPr>
              <a:t>IMPLEMENTED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895344" y="3255264"/>
            <a:ext cx="256032" cy="237744"/>
          </a:xfrm>
          <a:prstGeom prst="downArrow">
            <a:avLst/>
          </a:prstGeom>
          <a:solidFill>
            <a:srgbClr val="10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502152"/>
            <a:ext cx="6400800" cy="960120"/>
          </a:xfrm>
          <a:prstGeom prst="roundRect">
            <a:avLst>
              <a:gd name="adj" fmla="val 10000"/>
            </a:avLst>
          </a:prstGeom>
          <a:solidFill>
            <a:srgbClr val="12213D"/>
          </a:solidFill>
          <a:ln w="1524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698748"/>
            <a:ext cx="566928" cy="566928"/>
          </a:xfrm>
          <a:prstGeom prst="ellipse">
            <a:avLst/>
          </a:prstGeom>
          <a:solidFill>
            <a:srgbClr val="0D1A33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717036"/>
            <a:ext cx="56692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5F9FC"/>
                </a:solidFill>
                <a:latin typeface="Segoe UI"/>
              </a:rP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63016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5F9FC"/>
                </a:solidFill>
                <a:latin typeface="Segoe UI"/>
              </a:rPr>
              <a:t>Django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01421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2A6C0"/>
                </a:solidFill>
                <a:latin typeface="Segoe UI"/>
              </a:rPr>
              <a:t>Python backend · routing · access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38313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 w="1524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800" b="1">
                <a:solidFill>
                  <a:srgbClr val="108E6B"/>
                </a:solidFill>
                <a:latin typeface="Segoe UI"/>
              </a:rPr>
              <a:t>IMPLEMENTED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895344" y="4471416"/>
            <a:ext cx="256032" cy="237744"/>
          </a:xfrm>
          <a:prstGeom prst="downArrow">
            <a:avLst/>
          </a:prstGeom>
          <a:solidFill>
            <a:srgbClr val="10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718304"/>
            <a:ext cx="6400800" cy="960120"/>
          </a:xfrm>
          <a:prstGeom prst="roundRect">
            <a:avLst>
              <a:gd name="adj" fmla="val 10000"/>
            </a:avLst>
          </a:prstGeom>
          <a:solidFill>
            <a:srgbClr val="12213D"/>
          </a:solidFill>
          <a:ln w="1524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" y="4914900"/>
            <a:ext cx="566928" cy="566928"/>
          </a:xfrm>
          <a:prstGeom prst="ellipse">
            <a:avLst/>
          </a:prstGeom>
          <a:solidFill>
            <a:srgbClr val="0D1A33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933188"/>
            <a:ext cx="56692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5F9FC"/>
                </a:solidFill>
                <a:latin typeface="Segoe UI"/>
              </a:rPr>
              <a:t>🗄️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8463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5F9FC"/>
                </a:solidFill>
                <a:latin typeface="Segoe UI"/>
              </a:rP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23036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2A6C0"/>
                </a:solidFill>
                <a:latin typeface="Segoe UI"/>
              </a:rPr>
              <a:t>Complaints, media, statuses, audit trail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50474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D1A33"/>
          </a:solidFill>
          <a:ln w="1524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800" b="1">
                <a:solidFill>
                  <a:srgbClr val="108E6B"/>
                </a:solidFill>
                <a:latin typeface="Segoe UI"/>
              </a:rPr>
              <a:t>IMPLEMENTED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2286000"/>
            <a:ext cx="3566160" cy="3392424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2EE6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2560320"/>
            <a:ext cx="2377440" cy="36576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2EE6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2EE6A8"/>
                </a:solidFill>
                <a:latin typeface="Segoe UI"/>
              </a:rPr>
              <a:t>PLANNED AI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108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5F9FC"/>
                </a:solidFill>
                <a:latin typeface="Segoe UI"/>
              </a:rPr>
              <a:t>Gemini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6576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◇  </a:t>
            </a:r>
            <a:r>
              <a:rPr sz="1250" b="0" i="0">
                <a:solidFill>
                  <a:srgbClr val="F5F9FC"/>
                </a:solidFill>
                <a:latin typeface="Segoe UI"/>
              </a:rPr>
              <a:t>Auto-suggest 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05993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◇  </a:t>
            </a:r>
            <a:r>
              <a:rPr sz="1250" b="0" i="0">
                <a:solidFill>
                  <a:srgbClr val="F5F9FC"/>
                </a:solidFill>
                <a:latin typeface="Segoe UI"/>
              </a:rPr>
              <a:t>Detect duplicates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46227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◇  </a:t>
            </a:r>
            <a:r>
              <a:rPr sz="1250" b="0" i="0">
                <a:solidFill>
                  <a:srgbClr val="F5F9FC"/>
                </a:solidFill>
                <a:latin typeface="Segoe UI"/>
              </a:rPr>
              <a:t>Summarize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294376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1">
                <a:solidFill>
                  <a:srgbClr val="92A6C0"/>
                </a:solidFill>
                <a:latin typeface="Segoe UI"/>
              </a:rPr>
              <a:t>Not yet implemented — design stage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92A6C0"/>
                </a:solidFill>
                <a:latin typeface="Segoe UI"/>
              </a:rPr>
              <a:t>Standard web technologies — no proprietary lock-in.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2A6C0"/>
                </a:solidFill>
                <a:latin typeface="Segoe UI"/>
              </a:rPr>
              <a:t>FixMate  ·  Pune, India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2EE6A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TRUST &amp; ACCOUNTABILITY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822960" cy="5486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5F9FC"/>
                </a:solidFill>
                <a:latin typeface="Segoe UI"/>
              </a:rPr>
              <a:t>Status you can see. Closure you must confirm.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12213D"/>
          </a:solidFill>
          <a:ln w="20320">
            <a:solidFill>
              <a:srgbClr val="F25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2606040" cy="146304"/>
          </a:xfrm>
          <a:prstGeom prst="rect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3060" y="2560320"/>
            <a:ext cx="640080" cy="640080"/>
          </a:xfrm>
          <a:prstGeom prst="ellipse">
            <a:avLst/>
          </a:prstGeom>
          <a:solidFill>
            <a:srgbClr val="0A1428"/>
          </a:solidFill>
          <a:ln w="20320">
            <a:solidFill>
              <a:srgbClr val="F25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23060" y="2560320"/>
            <a:ext cx="640080" cy="640080"/>
          </a:xfrm>
          <a:prstGeom prst="ellipse">
            <a:avLst/>
          </a:prstGeom>
          <a:solidFill>
            <a:srgbClr val="F25C5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87652" y="2724912"/>
            <a:ext cx="310896" cy="310896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383280"/>
            <a:ext cx="23865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5F9FC"/>
                </a:solidFill>
                <a:latin typeface="Segoe UI"/>
              </a:rPr>
              <a:t>Unresolved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840480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92A6C0"/>
                </a:solidFill>
                <a:latin typeface="Segoe UI"/>
              </a:rPr>
              <a:t>Reported, not yet addressed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214884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12213D"/>
          </a:solidFill>
          <a:ln w="2032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2148840"/>
            <a:ext cx="2606040" cy="146304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1708" y="2560320"/>
            <a:ext cx="640080" cy="640080"/>
          </a:xfrm>
          <a:prstGeom prst="ellipse">
            <a:avLst/>
          </a:prstGeom>
          <a:solidFill>
            <a:srgbClr val="0A1428"/>
          </a:solidFill>
          <a:ln w="2032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1708" y="2560320"/>
            <a:ext cx="640080" cy="640080"/>
          </a:xfrm>
          <a:prstGeom prst="ellipse">
            <a:avLst/>
          </a:prstGeom>
          <a:solidFill>
            <a:srgbClr val="FFC85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86300" y="2724912"/>
            <a:ext cx="310896" cy="310896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8456" y="3383280"/>
            <a:ext cx="23865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5F9FC"/>
                </a:solidFill>
                <a:latin typeface="Segoe UI"/>
              </a:rPr>
              <a:t>Awaiting 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840480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92A6C0"/>
                </a:solidFill>
                <a:latin typeface="Segoe UI"/>
              </a:rPr>
              <a:t>Fix claimed — citizen to 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7376" y="214884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12213D"/>
          </a:solidFill>
          <a:ln w="20320">
            <a:solidFill>
              <a:srgbClr val="FF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37376" y="2148840"/>
            <a:ext cx="2606040" cy="146304"/>
          </a:xfrm>
          <a:prstGeom prst="rect">
            <a:avLst/>
          </a:prstGeom>
          <a:solidFill>
            <a:srgbClr val="FF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20356" y="2560320"/>
            <a:ext cx="640080" cy="640080"/>
          </a:xfrm>
          <a:prstGeom prst="ellipse">
            <a:avLst/>
          </a:prstGeom>
          <a:solidFill>
            <a:srgbClr val="0A1428"/>
          </a:solidFill>
          <a:ln w="20320">
            <a:solidFill>
              <a:srgbClr val="FF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20356" y="2560320"/>
            <a:ext cx="640080" cy="640080"/>
          </a:xfrm>
          <a:prstGeom prst="ellipse">
            <a:avLst/>
          </a:prstGeom>
          <a:solidFill>
            <a:srgbClr val="FF934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84948" y="2724912"/>
            <a:ext cx="310896" cy="310896"/>
          </a:xfrm>
          <a:prstGeom prst="ellipse">
            <a:avLst/>
          </a:prstGeom>
          <a:solidFill>
            <a:srgbClr val="FF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383280"/>
            <a:ext cx="23865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5F9FC"/>
                </a:solidFill>
                <a:latin typeface="Segoe UI"/>
              </a:rPr>
              <a:t>Rejected / Uncertain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3840480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92A6C0"/>
                </a:solidFill>
                <a:latin typeface="Segoe UI"/>
              </a:rPr>
              <a:t>Could not be verified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36024" y="214884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12213D"/>
          </a:solidFill>
          <a:ln w="20320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36024" y="2148840"/>
            <a:ext cx="2606040" cy="14630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19004" y="2560320"/>
            <a:ext cx="640080" cy="640080"/>
          </a:xfrm>
          <a:prstGeom prst="ellipse">
            <a:avLst/>
          </a:prstGeom>
          <a:solidFill>
            <a:srgbClr val="0A1428"/>
          </a:solidFill>
          <a:ln w="20320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19004" y="2560320"/>
            <a:ext cx="640080" cy="640080"/>
          </a:xfrm>
          <a:prstGeom prst="ellipse">
            <a:avLst/>
          </a:prstGeom>
          <a:solidFill>
            <a:srgbClr val="2EE6A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83596" y="2724912"/>
            <a:ext cx="310896" cy="310896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5752" y="3383280"/>
            <a:ext cx="23865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5F9FC"/>
                </a:solidFill>
                <a:latin typeface="Segoe UI"/>
              </a:rPr>
              <a:t>Citizen-Verified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0616" y="3840480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92A6C0"/>
                </a:solidFill>
                <a:latin typeface="Segoe UI"/>
              </a:rPr>
              <a:t>Reporter confirmed the fix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892040"/>
            <a:ext cx="10908792" cy="1051560"/>
          </a:xfrm>
          <a:prstGeom prst="roundRect">
            <a:avLst>
              <a:gd name="adj" fmla="val 14000"/>
            </a:avLst>
          </a:prstGeom>
          <a:solidFill>
            <a:srgbClr val="0D1A33"/>
          </a:solidFill>
          <a:ln w="22860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0120" y="5143500"/>
            <a:ext cx="548640" cy="548640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152644"/>
            <a:ext cx="5486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0A1428"/>
                </a:solidFill>
                <a:latin typeface="Segoe UI"/>
              </a:rPr>
              <a:t>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5020056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 b="1" i="0">
                <a:solidFill>
                  <a:srgbClr val="2EE6A8"/>
                </a:solidFill>
                <a:latin typeface="Segoe UI"/>
              </a:rPr>
              <a:t>Officials cannot mark complaints completed without citizen confirmation.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92A6C0"/>
                </a:solidFill>
                <a:latin typeface="Segoe UI"/>
              </a:rPr>
              <a:t>The citizen who reported it holds the final say.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2A6C0"/>
                </a:solidFill>
                <a:latin typeface="Segoe UI"/>
              </a:rPr>
              <a:t>FixMate  ·  Pune, India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 i="0">
                <a:solidFill>
                  <a:srgbClr val="2EE6A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0A142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E6A8"/>
                </a:solidFill>
                <a:latin typeface="Segoe UI"/>
              </a:rPr>
              <a:t>IMPACT &amp;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68680"/>
            <a:ext cx="822960" cy="5486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5F9FC"/>
                </a:solidFill>
                <a:latin typeface="Segoe UI"/>
              </a:rPr>
              <a:t>Civic issues, seen through to the 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2860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1221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514600"/>
            <a:ext cx="548640" cy="548640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32888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5F9FC"/>
                </a:solidFill>
                <a:latin typeface="Segoe UI"/>
              </a:rPr>
              <a:t>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5F9FC"/>
                </a:solidFill>
                <a:latin typeface="Segoe UI"/>
              </a:rPr>
              <a:t>Easier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444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2A6C0"/>
                </a:solidFill>
                <a:latin typeface="Segoe UI"/>
              </a:rPr>
              <a:t>One photo, one form, one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2860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22860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1221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63440" y="2514600"/>
            <a:ext cx="548640" cy="548640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532888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5F9FC"/>
                </a:solidFill>
                <a:latin typeface="Segoe UI"/>
              </a:rPr>
              <a:t>👁️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0040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5F9FC"/>
                </a:solidFill>
                <a:latin typeface="Segoe UI"/>
              </a:rPr>
              <a:t>Transparent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58444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2A6C0"/>
                </a:solidFill>
                <a:latin typeface="Segoe UI"/>
              </a:rPr>
              <a:t>Status visible at every step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22860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12213D"/>
          </a:solidFill>
          <a:ln w="12700">
            <a:solidFill>
              <a:srgbClr val="24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83880" y="22860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1221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0" y="2514600"/>
            <a:ext cx="548640" cy="548640"/>
          </a:xfrm>
          <a:prstGeom prst="ellipse">
            <a:avLst/>
          </a:prstGeom>
          <a:solidFill>
            <a:srgbClr val="0D1A33"/>
          </a:solidFill>
          <a:ln w="12700">
            <a:solidFill>
              <a:srgbClr val="108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532888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5F9FC"/>
                </a:solidFill>
                <a:latin typeface="Segoe UI"/>
              </a:rPr>
              <a:t>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0040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5F9FC"/>
                </a:solidFill>
                <a:latin typeface="Segoe UI"/>
              </a:rPr>
              <a:t>Verified 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8444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2A6C0"/>
                </a:solidFill>
                <a:latin typeface="Segoe UI"/>
              </a:rPr>
              <a:t>Closed only when citizens agree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1118311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F5F9FC"/>
                </a:solidFill>
                <a:latin typeface="Segoe UI"/>
              </a:rPr>
              <a:t>Better reporting. Clearer accountability.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2EE6A8"/>
                </a:solidFill>
                <a:latin typeface="Segoe UI"/>
              </a:rPr>
              <a:t>A better Pune.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309360"/>
            <a:ext cx="11183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1">
                <a:solidFill>
                  <a:srgbClr val="92A6C0"/>
                </a:solidFill>
                <a:latin typeface="Segoe UI"/>
              </a:rPr>
              <a:t>Independent student civic-tech project — not affiliated with or endorsed by Pune Municipal Corporation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